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5" r:id="rId12"/>
    <p:sldId id="266" r:id="rId13"/>
    <p:sldId id="263" r:id="rId14"/>
    <p:sldId id="264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4DC392-A974-4AEB-98CD-A3FE7A44373B}" v="39" dt="2026-04-30T22:11:44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916B-19F6-2737-ADD9-563DB6F5F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390E7-D699-B0F5-54C7-903AB4F6C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EE241-44AE-C157-75CE-1C9105206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0A74-4FCE-40CF-9632-D0FAC37DB9C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AC5DD-6D2E-D356-F6B7-7497FB812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F956C-C510-C6C5-0D34-FA32395A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537D9-99CE-437B-84C6-76DA4D03D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491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A6C2A-F3AD-9AB0-F655-186CE5A8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90F8F-5BFE-4CEB-59A9-8D80CD7FE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AD68C-2228-6A76-325E-4A41077A4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0A74-4FCE-40CF-9632-D0FAC37DB9C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D8481-B487-C2BB-7CA9-78B82492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5C82F-E809-6D71-46A3-F4D8911E9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537D9-99CE-437B-84C6-76DA4D03D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09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0177-0807-A4A1-80E0-F90F8161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D6AB8-6716-8F41-C3B5-16A45C504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3EDD9-B109-16A0-77F9-DB34756AD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0A74-4FCE-40CF-9632-D0FAC37DB9C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6EDDE-103F-56C9-5D77-50FC5EE8A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13143-1156-6C11-358A-C3299280B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537D9-99CE-437B-84C6-76DA4D03D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72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6C5B8-E69E-9D1B-A4A4-3D570A5F3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2A417-561C-1823-7333-213774BA0E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ADE73-42EB-4F4C-BE69-412543AE5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7CD61-E013-868F-4E05-D8098AF6B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0A74-4FCE-40CF-9632-D0FAC37DB9C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EA2BC-740F-A591-F4DB-41F001B70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6F283-9572-7D33-C357-F613C63BA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537D9-99CE-437B-84C6-76DA4D03D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00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30D2A-F62A-DDF0-215B-0376088A8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E3E94-F16F-91DE-E4AA-50C62485C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DF3A7-4962-DB44-842B-574E05086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91AE04-63FA-25DB-D021-46F03C67F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9A5348-2248-2F58-A72E-0E15F22C9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A3B9B-F0B6-DEFF-758A-B7B8D060A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0A74-4FCE-40CF-9632-D0FAC37DB9C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29503A-132A-4C67-BC1A-56F62C409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C2F34E-C421-BC44-B42C-23B46F49D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537D9-99CE-437B-84C6-76DA4D03D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01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A66D4-2C63-20A0-14BF-3881CB683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B19DF-9431-B69B-6C83-C98945AF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0A74-4FCE-40CF-9632-D0FAC37DB9C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0A9C4C-D3E4-C97A-2B20-43EB4ED9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690946-8432-7EF4-FCFF-38B14E6AB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537D9-99CE-437B-84C6-76DA4D03D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90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748C5-0EA2-EAA5-5C0D-FBC3BC3D7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0A74-4FCE-40CF-9632-D0FAC37DB9C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C6E370-0CFE-D8F1-9763-F130B51E8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E8989-551F-E781-3A3C-9B3E0C934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537D9-99CE-437B-84C6-76DA4D03D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77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8D490-DE1F-DE91-D027-7ACDD78EA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3B189-FB05-76CC-5B7F-CF90266C0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4155-6094-A67D-501D-2B5631B35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9ACB8-F17F-93CB-D26C-C731D6AA8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0A74-4FCE-40CF-9632-D0FAC37DB9C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12AE7-DFAF-8AC6-C62C-91AA1AFD4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CC501-7D79-66BD-A98A-012E371AD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537D9-99CE-437B-84C6-76DA4D03D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20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F3706-8F90-8F1D-5AB5-8D8A2C31E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8CB82-FEAD-D059-03CF-BD51CDA6E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48B20-85B3-A9D2-98AA-891640511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42201-A1D3-F041-045E-0D638C3A3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0A74-4FCE-40CF-9632-D0FAC37DB9C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B89E8-2DF3-DA69-AE1F-CB5B0FC48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55AB3-A759-3B6F-C134-BB8CD70C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537D9-99CE-437B-84C6-76DA4D03D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26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9938D-1051-D356-BB9F-D1BE2009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CBEED-ADEE-3C4B-D67A-EDF2A0C09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8AFD6-D487-49E7-405A-1F0BFA44B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0A74-4FCE-40CF-9632-D0FAC37DB9C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EE78-CFE5-83CF-314C-90D9E7D5C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B1C07-52E9-844E-04E7-0BE78DF3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537D9-99CE-437B-84C6-76DA4D03D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65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36A481-4DAF-2BD5-00E1-DC0AAF760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2DE74-D401-98F5-EDBB-164F443DF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16AC2-93C7-BE9A-D31F-955AA1BC0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0A74-4FCE-40CF-9632-D0FAC37DB9C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0CA52-013F-9F7D-DCF2-C21EE6BA9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FF91A-F066-C9F6-AB2D-037E9FAC0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537D9-99CE-437B-84C6-76DA4D03D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12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B3BB5B-B6B5-E178-A0B8-8018F3599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29D5-9227-60BE-EEDC-654EED741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EBC85-F6C6-8CEC-412C-F4B8ED89EB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D80A74-4FCE-40CF-9632-D0FAC37DB9C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E725A-B689-8D95-DF01-33239E851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AF02B-D5F0-7FDE-F308-B410921D5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F537D9-99CE-437B-84C6-76DA4D03D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08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5FF9-7B55-FC5C-737E-8C592067E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567"/>
            <a:ext cx="9144000" cy="906088"/>
          </a:xfrm>
        </p:spPr>
        <p:txBody>
          <a:bodyPr>
            <a:noAutofit/>
          </a:bodyPr>
          <a:lstStyle/>
          <a:p>
            <a:r>
              <a:rPr lang="en-US" sz="4400" dirty="0"/>
              <a:t>Cardiovascular Health Disease Project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3E9160C-C0AE-65E7-5C7B-7635DC44B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54479"/>
            <a:ext cx="9144000" cy="4862945"/>
          </a:xfrm>
        </p:spPr>
        <p:txBody>
          <a:bodyPr>
            <a:normAutofit fontScale="92500" lnSpcReduction="10000"/>
          </a:bodyPr>
          <a:lstStyle/>
          <a:p>
            <a:r>
              <a:rPr lang="en-US" b="1" u="sng" dirty="0"/>
              <a:t>Prepared by:</a:t>
            </a:r>
            <a:endParaRPr lang="ar-EG" b="1" u="sng" dirty="0"/>
          </a:p>
          <a:p>
            <a:endParaRPr lang="ar-EG" dirty="0">
              <a:latin typeface="Calibri"/>
            </a:endParaRPr>
          </a:p>
          <a:p>
            <a:r>
              <a:rPr lang="en-US" sz="2600" dirty="0">
                <a:latin typeface="Calibri"/>
              </a:rPr>
              <a:t>Tasneem Hossam                      2301321</a:t>
            </a:r>
          </a:p>
          <a:p>
            <a:r>
              <a:rPr lang="en-US" sz="2600" dirty="0">
                <a:latin typeface="Calibri"/>
              </a:rPr>
              <a:t>Basant Gamal Lamey               2301331</a:t>
            </a:r>
          </a:p>
          <a:p>
            <a:r>
              <a:rPr lang="en-US" sz="2600" dirty="0">
                <a:latin typeface="Calibri"/>
              </a:rPr>
              <a:t>Marina Ayman Asaad               2301310</a:t>
            </a:r>
          </a:p>
          <a:p>
            <a:r>
              <a:rPr lang="en-US" sz="2600" dirty="0"/>
              <a:t>Eman Abdelbaset Abdlftah    2300825</a:t>
            </a:r>
          </a:p>
          <a:p>
            <a:r>
              <a:rPr lang="en-US" sz="2600" dirty="0"/>
              <a:t>Rana Rezk </a:t>
            </a:r>
            <a:r>
              <a:rPr lang="en-US" sz="2600" dirty="0" err="1"/>
              <a:t>Lotfy</a:t>
            </a:r>
            <a:r>
              <a:rPr lang="en-US" sz="2600" dirty="0"/>
              <a:t>                     </a:t>
            </a:r>
            <a:r>
              <a:rPr lang="ar-EG" sz="2600" dirty="0"/>
              <a:t> </a:t>
            </a:r>
            <a:r>
              <a:rPr lang="en-US" sz="2600" dirty="0"/>
              <a:t> 2301304 </a:t>
            </a:r>
          </a:p>
          <a:p>
            <a:endParaRPr lang="en-US" dirty="0"/>
          </a:p>
          <a:p>
            <a:r>
              <a:rPr lang="en-US" b="1" u="sng" dirty="0"/>
              <a:t>Supervised by</a:t>
            </a:r>
            <a:r>
              <a:rPr lang="ar-EG" b="1" u="sng" dirty="0"/>
              <a:t>:</a:t>
            </a:r>
          </a:p>
          <a:p>
            <a:br>
              <a:rPr lang="en-US" b="1" dirty="0"/>
            </a:br>
            <a:r>
              <a:rPr lang="en-US" b="1" dirty="0"/>
              <a:t>Dr. Wafaa Samy</a:t>
            </a:r>
            <a:br>
              <a:rPr lang="en-US" b="1" dirty="0"/>
            </a:br>
            <a:r>
              <a:rPr lang="en-US" b="1" dirty="0"/>
              <a:t>Eng. Elmohanad Alaa Eldeen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715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E64DF-9D28-2222-F431-BF3A1ED92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494" y="439940"/>
            <a:ext cx="10515600" cy="1325563"/>
          </a:xfrm>
        </p:spPr>
        <p:txBody>
          <a:bodyPr/>
          <a:lstStyle/>
          <a:p>
            <a:r>
              <a:rPr lang="en-US" b="1" dirty="0"/>
              <a:t>Idea Description: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456A-0EAE-BC74-3973-5F919F799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b="1" dirty="0"/>
            </a:br>
            <a:r>
              <a:rPr lang="en-US" dirty="0"/>
              <a:t>Cardiovascular diseases are one of the leading causes of death</a:t>
            </a:r>
            <a:br>
              <a:rPr lang="en-US" dirty="0"/>
            </a:br>
            <a:r>
              <a:rPr lang="en-US" dirty="0"/>
              <a:t>worldwide. In this project, we aim to build machine learning</a:t>
            </a:r>
            <a:br>
              <a:rPr lang="en-US" dirty="0"/>
            </a:br>
            <a:r>
              <a:rPr lang="en-US" dirty="0"/>
              <a:t>models to predict whether a person has cardiovascular disease</a:t>
            </a:r>
            <a:br>
              <a:rPr lang="en-US" dirty="0"/>
            </a:br>
            <a:r>
              <a:rPr lang="en-US" dirty="0"/>
              <a:t>based on medical and lifestyle features. The dataset contains</a:t>
            </a:r>
            <a:br>
              <a:rPr lang="en-US" dirty="0"/>
            </a:br>
            <a:r>
              <a:rPr lang="en-US" dirty="0"/>
              <a:t>information such as age, blood pressure, cholesterol, weight, and</a:t>
            </a:r>
            <a:br>
              <a:rPr lang="en-US" dirty="0"/>
            </a:br>
            <a:r>
              <a:rPr lang="en-US" dirty="0"/>
              <a:t>physical activity.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136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4D80E-B8DA-620E-B12F-892F44722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43" y="281998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Dataset Description: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941E3-D632-96ED-90EA-AD3341433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dataset used contains more than 30,000 records with multiple</a:t>
            </a:r>
            <a:br>
              <a:rPr lang="en-US" dirty="0"/>
            </a:br>
            <a:r>
              <a:rPr lang="en-US" dirty="0"/>
              <a:t>features and contains health and lifestyle information for adults</a:t>
            </a:r>
            <a:br>
              <a:rPr lang="en-US" dirty="0"/>
            </a:br>
            <a:r>
              <a:rPr lang="en-US" dirty="0"/>
              <a:t>such as age, blood pressure, cholesterol, weight, smoking, alcohol</a:t>
            </a:r>
            <a:br>
              <a:rPr lang="en-US" dirty="0"/>
            </a:br>
            <a:r>
              <a:rPr lang="en-US" dirty="0"/>
              <a:t>use, and physical activity. The target variable cardio indicates</a:t>
            </a:r>
            <a:br>
              <a:rPr lang="en-US" dirty="0"/>
            </a:br>
            <a:r>
              <a:rPr lang="en-US" dirty="0"/>
              <a:t>whether a person has cardiovascular disease (0 = no, 1 = yes).</a:t>
            </a:r>
            <a:br>
              <a:rPr lang="en-US" dirty="0"/>
            </a:br>
            <a:r>
              <a:rPr lang="en-US" dirty="0"/>
              <a:t>Machine learning classification models will be used to predict</a:t>
            </a:r>
            <a:br>
              <a:rPr lang="en-US" dirty="0"/>
            </a:br>
            <a:r>
              <a:rPr lang="en-US" dirty="0"/>
              <a:t>cardiovascular disease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83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B2D75-D11F-45A5-B47A-3F3E4B7D4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31" y="33187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Data Preprocessing: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75E5C-DAC4-A626-B042-60D9F876F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431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b="1" dirty="0"/>
              <a:t>Check of Balanced</a:t>
            </a:r>
            <a:endParaRPr lang="ar-EG" b="1" dirty="0"/>
          </a:p>
          <a:p>
            <a:pPr marL="0" indent="0">
              <a:buNone/>
            </a:pPr>
            <a:r>
              <a:rPr lang="ar-EG" b="1" dirty="0">
                <a:solidFill>
                  <a:schemeClr val="accent1"/>
                </a:solidFill>
              </a:rPr>
              <a:t>       </a:t>
            </a:r>
            <a:r>
              <a:rPr lang="en-US" sz="1800" b="1" dirty="0" err="1">
                <a:solidFill>
                  <a:schemeClr val="accent1"/>
                </a:solidFill>
              </a:rPr>
              <a:t>df</a:t>
            </a:r>
            <a:r>
              <a:rPr lang="en-US" sz="1800" b="1" dirty="0">
                <a:solidFill>
                  <a:schemeClr val="accent1"/>
                </a:solidFill>
              </a:rPr>
              <a:t>['cardio'].</a:t>
            </a:r>
            <a:r>
              <a:rPr lang="en-US" sz="1800" b="1" dirty="0" err="1">
                <a:solidFill>
                  <a:schemeClr val="accent1"/>
                </a:solidFill>
              </a:rPr>
              <a:t>value_counts</a:t>
            </a:r>
            <a:r>
              <a:rPr lang="en-US" sz="1800" b="1" dirty="0">
                <a:solidFill>
                  <a:schemeClr val="accent1"/>
                </a:solidFill>
              </a:rPr>
              <a:t>()</a:t>
            </a:r>
          </a:p>
          <a:p>
            <a:pPr marL="0" indent="0">
              <a:buNone/>
            </a:pPr>
            <a:r>
              <a:rPr lang="en-US" b="1" dirty="0"/>
              <a:t>2. Handled missing values</a:t>
            </a:r>
            <a:endParaRPr lang="ar-EG" b="1" dirty="0"/>
          </a:p>
          <a:p>
            <a:pPr marL="0" indent="0">
              <a:buNone/>
            </a:pPr>
            <a:r>
              <a:rPr lang="ar-EG" sz="1800" b="1" dirty="0">
                <a:solidFill>
                  <a:schemeClr val="accent1"/>
                </a:solidFill>
              </a:rPr>
              <a:t>           </a:t>
            </a:r>
            <a:r>
              <a:rPr lang="en-US" sz="1800" b="1" dirty="0">
                <a:solidFill>
                  <a:schemeClr val="accent1"/>
                </a:solidFill>
              </a:rPr>
              <a:t>print(</a:t>
            </a:r>
            <a:r>
              <a:rPr lang="en-US" sz="1800" b="1" dirty="0" err="1">
                <a:solidFill>
                  <a:schemeClr val="accent1"/>
                </a:solidFill>
              </a:rPr>
              <a:t>df.isnull</a:t>
            </a:r>
            <a:r>
              <a:rPr lang="en-US" sz="1800" b="1" dirty="0">
                <a:solidFill>
                  <a:schemeClr val="accent1"/>
                </a:solidFill>
              </a:rPr>
              <a:t>().sum())</a:t>
            </a:r>
            <a:r>
              <a:rPr lang="ar-EG" sz="1800" b="1" dirty="0">
                <a:solidFill>
                  <a:schemeClr val="accent1"/>
                </a:solidFill>
              </a:rPr>
              <a:t>       </a:t>
            </a:r>
          </a:p>
          <a:p>
            <a:pPr marL="0" indent="0">
              <a:buNone/>
            </a:pPr>
            <a:r>
              <a:rPr lang="en-US" b="1" dirty="0"/>
              <a:t>3. Removed unnecessary columns</a:t>
            </a:r>
            <a:endParaRPr lang="ar-EG" b="1" dirty="0"/>
          </a:p>
          <a:p>
            <a:pPr marL="0" indent="0">
              <a:buNone/>
            </a:pPr>
            <a:r>
              <a:rPr lang="ar-EG" b="1" dirty="0"/>
              <a:t>       </a:t>
            </a:r>
            <a:r>
              <a:rPr lang="en-US" sz="1800" b="1" dirty="0" err="1">
                <a:solidFill>
                  <a:schemeClr val="accent1"/>
                </a:solidFill>
              </a:rPr>
              <a:t>df.drop</a:t>
            </a:r>
            <a:r>
              <a:rPr lang="en-US" sz="1800" b="1" dirty="0">
                <a:solidFill>
                  <a:schemeClr val="accent1"/>
                </a:solidFill>
              </a:rPr>
              <a:t>(columns=['Unnamed:0'],</a:t>
            </a:r>
            <a:r>
              <a:rPr lang="en-US" sz="1800" b="1" dirty="0" err="1">
                <a:solidFill>
                  <a:schemeClr val="accent1"/>
                </a:solidFill>
              </a:rPr>
              <a:t>inplace</a:t>
            </a:r>
            <a:r>
              <a:rPr lang="en-US" sz="1800" b="1" dirty="0">
                <a:solidFill>
                  <a:schemeClr val="accent1"/>
                </a:solidFill>
              </a:rPr>
              <a:t>=True)</a:t>
            </a:r>
            <a:endParaRPr lang="ar-EG" sz="18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ar-EG" sz="1800" b="1" dirty="0">
                <a:solidFill>
                  <a:schemeClr val="accent1"/>
                </a:solidFill>
              </a:rPr>
              <a:t>           </a:t>
            </a:r>
            <a:r>
              <a:rPr lang="en-US" sz="1800" b="1" dirty="0" err="1">
                <a:solidFill>
                  <a:schemeClr val="accent1"/>
                </a:solidFill>
              </a:rPr>
              <a:t>df.drop</a:t>
            </a:r>
            <a:r>
              <a:rPr lang="en-US" sz="1800" b="1" dirty="0">
                <a:solidFill>
                  <a:schemeClr val="accent1"/>
                </a:solidFill>
              </a:rPr>
              <a:t>(columns=['id'],</a:t>
            </a:r>
            <a:r>
              <a:rPr lang="en-US" sz="1800" b="1" dirty="0" err="1">
                <a:solidFill>
                  <a:schemeClr val="accent1"/>
                </a:solidFill>
              </a:rPr>
              <a:t>inplace</a:t>
            </a:r>
            <a:r>
              <a:rPr lang="en-US" sz="1800" b="1" dirty="0">
                <a:solidFill>
                  <a:schemeClr val="accent1"/>
                </a:solidFill>
              </a:rPr>
              <a:t>=True)</a:t>
            </a:r>
          </a:p>
          <a:p>
            <a:pPr marL="0" indent="0">
              <a:buNone/>
            </a:pPr>
            <a:r>
              <a:rPr lang="en-US" b="1" dirty="0"/>
              <a:t>4. Converted age from days to years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               </a:t>
            </a:r>
            <a:r>
              <a:rPr lang="en-US" sz="1800" b="1" dirty="0" err="1">
                <a:solidFill>
                  <a:schemeClr val="accent1"/>
                </a:solidFill>
              </a:rPr>
              <a:t>df</a:t>
            </a:r>
            <a:r>
              <a:rPr lang="en-US" sz="1800" b="1" dirty="0">
                <a:solidFill>
                  <a:schemeClr val="accent1"/>
                </a:solidFill>
              </a:rPr>
              <a:t>['age'] = (</a:t>
            </a:r>
            <a:r>
              <a:rPr lang="en-US" sz="1800" b="1" dirty="0" err="1">
                <a:solidFill>
                  <a:schemeClr val="accent1"/>
                </a:solidFill>
              </a:rPr>
              <a:t>df</a:t>
            </a:r>
            <a:r>
              <a:rPr lang="en-US" sz="1800" b="1" dirty="0">
                <a:solidFill>
                  <a:schemeClr val="accent1"/>
                </a:solidFill>
              </a:rPr>
              <a:t>['age'] / 365)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51637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4D6868-743C-F276-DA3B-53F9FD2666C6}"/>
              </a:ext>
            </a:extLst>
          </p:cNvPr>
          <p:cNvSpPr txBox="1"/>
          <p:nvPr/>
        </p:nvSpPr>
        <p:spPr>
          <a:xfrm>
            <a:off x="471745" y="476195"/>
            <a:ext cx="95783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5. unrealistic values using </a:t>
            </a:r>
            <a:r>
              <a:rPr lang="en-US" sz="2800" b="1" dirty="0" err="1"/>
              <a:t>medFilteredical</a:t>
            </a:r>
            <a:r>
              <a:rPr lang="en-US" sz="2800" b="1" dirty="0"/>
              <a:t> logic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B19559-A31D-BE15-8B3A-FE0D7C445488}"/>
              </a:ext>
            </a:extLst>
          </p:cNvPr>
          <p:cNvSpPr txBox="1"/>
          <p:nvPr/>
        </p:nvSpPr>
        <p:spPr>
          <a:xfrm>
            <a:off x="904009" y="1066538"/>
            <a:ext cx="60973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 = 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[(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['</a:t>
            </a:r>
            <a:r>
              <a:rPr lang="en-US" dirty="0" err="1">
                <a:solidFill>
                  <a:schemeClr val="accent1"/>
                </a:solidFill>
              </a:rPr>
              <a:t>ap_hi</a:t>
            </a:r>
            <a:r>
              <a:rPr lang="en-US" dirty="0">
                <a:solidFill>
                  <a:schemeClr val="accent1"/>
                </a:solidFill>
              </a:rPr>
              <a:t>'] &gt; 60) &amp; (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['</a:t>
            </a:r>
            <a:r>
              <a:rPr lang="en-US" dirty="0" err="1">
                <a:solidFill>
                  <a:schemeClr val="accent1"/>
                </a:solidFill>
              </a:rPr>
              <a:t>ap_hi</a:t>
            </a:r>
            <a:r>
              <a:rPr lang="en-US" dirty="0">
                <a:solidFill>
                  <a:schemeClr val="accent1"/>
                </a:solidFill>
              </a:rPr>
              <a:t>'] &lt; 250)]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 = 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[(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['</a:t>
            </a:r>
            <a:r>
              <a:rPr lang="en-US" dirty="0" err="1">
                <a:solidFill>
                  <a:schemeClr val="accent1"/>
                </a:solidFill>
              </a:rPr>
              <a:t>ap_lo</a:t>
            </a:r>
            <a:r>
              <a:rPr lang="en-US" dirty="0">
                <a:solidFill>
                  <a:schemeClr val="accent1"/>
                </a:solidFill>
              </a:rPr>
              <a:t>'] &gt; 40) &amp; (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['</a:t>
            </a:r>
            <a:r>
              <a:rPr lang="en-US" dirty="0" err="1">
                <a:solidFill>
                  <a:schemeClr val="accent1"/>
                </a:solidFill>
              </a:rPr>
              <a:t>ap_lo</a:t>
            </a:r>
            <a:r>
              <a:rPr lang="en-US" dirty="0">
                <a:solidFill>
                  <a:schemeClr val="accent1"/>
                </a:solidFill>
              </a:rPr>
              <a:t>'] &lt; 180)]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 = 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['</a:t>
            </a:r>
            <a:r>
              <a:rPr lang="en-US" dirty="0" err="1">
                <a:solidFill>
                  <a:schemeClr val="accent1"/>
                </a:solidFill>
              </a:rPr>
              <a:t>ap_hi</a:t>
            </a:r>
            <a:r>
              <a:rPr lang="en-US" dirty="0">
                <a:solidFill>
                  <a:schemeClr val="accent1"/>
                </a:solidFill>
              </a:rPr>
              <a:t>'] &gt; 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['</a:t>
            </a:r>
            <a:r>
              <a:rPr lang="en-US" dirty="0" err="1">
                <a:solidFill>
                  <a:schemeClr val="accent1"/>
                </a:solidFill>
              </a:rPr>
              <a:t>ap_lo</a:t>
            </a:r>
            <a:r>
              <a:rPr lang="en-US" dirty="0">
                <a:solidFill>
                  <a:schemeClr val="accent1"/>
                </a:solidFill>
              </a:rPr>
              <a:t>’]]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 = 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[(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['height'] &gt; 100) &amp; (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['height'] &lt; 220)]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 = 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[(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['weight'] &gt; 30) &amp; (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['weight'] &lt; 200)]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89E7F7-0242-FB27-DFE4-EB7BA8E5F3ED}"/>
              </a:ext>
            </a:extLst>
          </p:cNvPr>
          <p:cNvSpPr txBox="1"/>
          <p:nvPr/>
        </p:nvSpPr>
        <p:spPr>
          <a:xfrm>
            <a:off x="471745" y="3011917"/>
            <a:ext cx="85392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</a:t>
            </a:r>
            <a:r>
              <a:rPr lang="en-US" sz="2800" b="1" dirty="0"/>
              <a:t>6. Handled outliers using IQR method with clipping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E8F47B-D1DD-8FD5-5F54-C46BE59AFB33}"/>
              </a:ext>
            </a:extLst>
          </p:cNvPr>
          <p:cNvSpPr txBox="1"/>
          <p:nvPr/>
        </p:nvSpPr>
        <p:spPr>
          <a:xfrm>
            <a:off x="1153392" y="3535137"/>
            <a:ext cx="609738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cols_to_cap</a:t>
            </a:r>
            <a:r>
              <a:rPr lang="en-US" dirty="0">
                <a:solidFill>
                  <a:schemeClr val="accent1"/>
                </a:solidFill>
              </a:rPr>
              <a:t> = ['</a:t>
            </a:r>
            <a:r>
              <a:rPr lang="en-US" dirty="0" err="1">
                <a:solidFill>
                  <a:schemeClr val="accent1"/>
                </a:solidFill>
              </a:rPr>
              <a:t>ap_hi</a:t>
            </a:r>
            <a:r>
              <a:rPr lang="en-US" dirty="0">
                <a:solidFill>
                  <a:schemeClr val="accent1"/>
                </a:solidFill>
              </a:rPr>
              <a:t>', '</a:t>
            </a:r>
            <a:r>
              <a:rPr lang="en-US" dirty="0" err="1">
                <a:solidFill>
                  <a:schemeClr val="accent1"/>
                </a:solidFill>
              </a:rPr>
              <a:t>ap_lo</a:t>
            </a:r>
            <a:r>
              <a:rPr lang="en-US" dirty="0">
                <a:solidFill>
                  <a:schemeClr val="accent1"/>
                </a:solidFill>
              </a:rPr>
              <a:t>', 'height', 'weight']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for col in </a:t>
            </a:r>
            <a:r>
              <a:rPr lang="en-US" dirty="0" err="1">
                <a:solidFill>
                  <a:schemeClr val="accent1"/>
                </a:solidFill>
              </a:rPr>
              <a:t>cols_to_cap</a:t>
            </a:r>
            <a:r>
              <a:rPr lang="en-US" dirty="0">
                <a:solidFill>
                  <a:schemeClr val="accent1"/>
                </a:solidFill>
              </a:rPr>
              <a:t>:</a:t>
            </a:r>
          </a:p>
          <a:p>
            <a:r>
              <a:rPr lang="en-US" dirty="0">
                <a:solidFill>
                  <a:schemeClr val="accent1"/>
                </a:solidFill>
              </a:rPr>
              <a:t>    Q1  = 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[col].quantile(0.25)</a:t>
            </a:r>
          </a:p>
          <a:p>
            <a:r>
              <a:rPr lang="en-US" dirty="0">
                <a:solidFill>
                  <a:schemeClr val="accent1"/>
                </a:solidFill>
              </a:rPr>
              <a:t>    Q3  = 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[col].quantile(0.75)</a:t>
            </a:r>
          </a:p>
          <a:p>
            <a:r>
              <a:rPr lang="en-US" dirty="0">
                <a:solidFill>
                  <a:schemeClr val="accent1"/>
                </a:solidFill>
              </a:rPr>
              <a:t>    IQR = Q3 - Q1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    lower = Q1 - 1.5 * IQR</a:t>
            </a:r>
          </a:p>
          <a:p>
            <a:r>
              <a:rPr lang="en-US" dirty="0">
                <a:solidFill>
                  <a:schemeClr val="accent1"/>
                </a:solidFill>
              </a:rPr>
              <a:t>    upper = Q3 + 1.5 * IQR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[col] = 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[col].clip(lower=lower, upper=upper)</a:t>
            </a:r>
          </a:p>
        </p:txBody>
      </p:sp>
    </p:spTree>
    <p:extLst>
      <p:ext uri="{BB962C8B-B14F-4D97-AF65-F5344CB8AC3E}">
        <p14:creationId xmlns:p14="http://schemas.microsoft.com/office/powerpoint/2010/main" val="3558855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0CC6CF-6051-95AE-B736-229DB94B63BD}"/>
              </a:ext>
            </a:extLst>
          </p:cNvPr>
          <p:cNvSpPr txBox="1"/>
          <p:nvPr/>
        </p:nvSpPr>
        <p:spPr>
          <a:xfrm>
            <a:off x="347057" y="343192"/>
            <a:ext cx="7051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</a:t>
            </a:r>
            <a:r>
              <a:rPr lang="en-US" sz="2800" b="1" dirty="0"/>
              <a:t>7. Check and removed duplicate rows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C10BC-895C-EC41-F1D0-F06B4780B28A}"/>
              </a:ext>
            </a:extLst>
          </p:cNvPr>
          <p:cNvSpPr txBox="1"/>
          <p:nvPr/>
        </p:nvSpPr>
        <p:spPr>
          <a:xfrm>
            <a:off x="721129" y="1223859"/>
            <a:ext cx="6097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Check :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04B7F4-BA51-2A65-9C92-5C6A9941F7C6}"/>
              </a:ext>
            </a:extLst>
          </p:cNvPr>
          <p:cNvSpPr txBox="1"/>
          <p:nvPr/>
        </p:nvSpPr>
        <p:spPr>
          <a:xfrm>
            <a:off x="2142606" y="1223859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print("Duplicated rows:", </a:t>
            </a:r>
            <a:r>
              <a:rPr lang="en-US" dirty="0" err="1">
                <a:solidFill>
                  <a:schemeClr val="accent1"/>
                </a:solidFill>
              </a:rPr>
              <a:t>df.duplicated</a:t>
            </a:r>
            <a:r>
              <a:rPr lang="en-US" dirty="0">
                <a:solidFill>
                  <a:schemeClr val="accent1"/>
                </a:solidFill>
              </a:rPr>
              <a:t>().sum())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0B204A-10E6-6C3F-0B16-D6E5BA94D88E}"/>
              </a:ext>
            </a:extLst>
          </p:cNvPr>
          <p:cNvSpPr txBox="1"/>
          <p:nvPr/>
        </p:nvSpPr>
        <p:spPr>
          <a:xfrm>
            <a:off x="721129" y="2038886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</a:t>
            </a:r>
            <a:r>
              <a:rPr lang="en-US" sz="1800" b="1" dirty="0"/>
              <a:t>emove :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5F9B29-B519-2733-EC4E-0734043AE797}"/>
              </a:ext>
            </a:extLst>
          </p:cNvPr>
          <p:cNvSpPr txBox="1"/>
          <p:nvPr/>
        </p:nvSpPr>
        <p:spPr>
          <a:xfrm>
            <a:off x="2142606" y="2008108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df.drop_duplicates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inplace</a:t>
            </a:r>
            <a:r>
              <a:rPr lang="en-US" dirty="0">
                <a:solidFill>
                  <a:schemeClr val="accent1"/>
                </a:solidFill>
              </a:rPr>
              <a:t>=True)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FA5215-6207-0C9B-6E98-31C5DD8CE6CD}"/>
              </a:ext>
            </a:extLst>
          </p:cNvPr>
          <p:cNvSpPr txBox="1"/>
          <p:nvPr/>
        </p:nvSpPr>
        <p:spPr>
          <a:xfrm>
            <a:off x="347057" y="3429000"/>
            <a:ext cx="6097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8. Created a new feature (BMI)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06CA52-5B4C-C9FE-F5C0-4B121D3F677A}"/>
              </a:ext>
            </a:extLst>
          </p:cNvPr>
          <p:cNvSpPr txBox="1"/>
          <p:nvPr/>
        </p:nvSpPr>
        <p:spPr>
          <a:xfrm>
            <a:off x="721129" y="4324475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['BMI'] = 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['weight'] / ((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['height'] / 100) ** 2)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['BMI'] = 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accent1"/>
                </a:solidFill>
              </a:rPr>
              <a:t>['BMI']</a:t>
            </a:r>
          </a:p>
        </p:txBody>
      </p:sp>
    </p:spTree>
    <p:extLst>
      <p:ext uri="{BB962C8B-B14F-4D97-AF65-F5344CB8AC3E}">
        <p14:creationId xmlns:p14="http://schemas.microsoft.com/office/powerpoint/2010/main" val="3500092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8CEC3-B58F-3E9F-AE3E-810FD61C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08" y="415003"/>
            <a:ext cx="10515600" cy="121429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Feature Scaling 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E1317-BC7E-6A86-54CF-F9C26D65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476"/>
            <a:ext cx="10515600" cy="52037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used </a:t>
            </a:r>
            <a:r>
              <a:rPr lang="en-US" dirty="0" err="1"/>
              <a:t>StandardScaler</a:t>
            </a:r>
            <a:r>
              <a:rPr lang="en-US" dirty="0"/>
              <a:t> to normalize the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from </a:t>
            </a:r>
            <a:r>
              <a:rPr lang="en-US" sz="2400" dirty="0" err="1">
                <a:solidFill>
                  <a:schemeClr val="accent1"/>
                </a:solidFill>
              </a:rPr>
              <a:t>sklearn.preprocessing</a:t>
            </a:r>
            <a:r>
              <a:rPr lang="en-US" sz="2400" dirty="0">
                <a:solidFill>
                  <a:schemeClr val="accent1"/>
                </a:solidFill>
              </a:rPr>
              <a:t> import </a:t>
            </a:r>
            <a:r>
              <a:rPr lang="en-US" sz="2400" dirty="0" err="1">
                <a:solidFill>
                  <a:schemeClr val="accent1"/>
                </a:solidFill>
              </a:rPr>
              <a:t>StandardScaler</a:t>
            </a:r>
            <a:br>
              <a:rPr lang="en-US" sz="2400" dirty="0">
                <a:solidFill>
                  <a:schemeClr val="accent1"/>
                </a:solidFill>
              </a:rPr>
            </a:b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accent1"/>
                </a:solidFill>
              </a:rPr>
              <a:t>scaler = </a:t>
            </a:r>
            <a:r>
              <a:rPr lang="en-US" sz="2400" dirty="0" err="1">
                <a:solidFill>
                  <a:schemeClr val="accent1"/>
                </a:solidFill>
              </a:rPr>
              <a:t>StandardScaler</a:t>
            </a:r>
            <a:r>
              <a:rPr lang="en-US" sz="2400" dirty="0">
                <a:solidFill>
                  <a:schemeClr val="accent1"/>
                </a:solidFill>
              </a:rPr>
              <a:t>()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 err="1">
                <a:solidFill>
                  <a:schemeClr val="accent1"/>
                </a:solidFill>
              </a:rPr>
              <a:t>X_train_scaled</a:t>
            </a:r>
            <a:r>
              <a:rPr lang="en-US" sz="2400" dirty="0">
                <a:solidFill>
                  <a:schemeClr val="accent1"/>
                </a:solidFill>
              </a:rPr>
              <a:t> = </a:t>
            </a:r>
            <a:r>
              <a:rPr lang="en-US" sz="2400" dirty="0" err="1">
                <a:solidFill>
                  <a:schemeClr val="accent1"/>
                </a:solidFill>
              </a:rPr>
              <a:t>scaler.fit_transform</a:t>
            </a:r>
            <a:r>
              <a:rPr lang="en-US" sz="2400" dirty="0">
                <a:solidFill>
                  <a:schemeClr val="accent1"/>
                </a:solidFill>
              </a:rPr>
              <a:t>(</a:t>
            </a:r>
            <a:r>
              <a:rPr lang="en-US" sz="2400" dirty="0" err="1">
                <a:solidFill>
                  <a:schemeClr val="accent1"/>
                </a:solidFill>
              </a:rPr>
              <a:t>X_train</a:t>
            </a:r>
            <a:r>
              <a:rPr lang="en-US" sz="2400" dirty="0">
                <a:solidFill>
                  <a:schemeClr val="accent1"/>
                </a:solidFill>
              </a:rPr>
              <a:t>)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 err="1">
                <a:solidFill>
                  <a:schemeClr val="accent1"/>
                </a:solidFill>
              </a:rPr>
              <a:t>X_test_scaled</a:t>
            </a:r>
            <a:r>
              <a:rPr lang="en-US" sz="2400" dirty="0">
                <a:solidFill>
                  <a:schemeClr val="accent1"/>
                </a:solidFill>
              </a:rPr>
              <a:t> = </a:t>
            </a:r>
            <a:r>
              <a:rPr lang="en-US" sz="2400" dirty="0" err="1">
                <a:solidFill>
                  <a:schemeClr val="accent1"/>
                </a:solidFill>
              </a:rPr>
              <a:t>scaler.transform</a:t>
            </a:r>
            <a:r>
              <a:rPr lang="en-US" sz="2400" dirty="0">
                <a:solidFill>
                  <a:schemeClr val="accent1"/>
                </a:solidFill>
              </a:rPr>
              <a:t>(</a:t>
            </a:r>
            <a:r>
              <a:rPr lang="en-US" sz="2400" dirty="0" err="1">
                <a:solidFill>
                  <a:schemeClr val="accent1"/>
                </a:solidFill>
              </a:rPr>
              <a:t>X_test</a:t>
            </a:r>
            <a:r>
              <a:rPr lang="en-US" sz="2400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2942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054D1-9E5C-EC08-4587-CD5478009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746" y="323562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Data Splitting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67430-1C00-F56E-551E-8F15703BB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 - Data was split into training (80%) and testing (20%) sets</a:t>
            </a:r>
            <a:br>
              <a:rPr lang="en-US" dirty="0"/>
            </a:br>
            <a:r>
              <a:rPr lang="en-US" dirty="0"/>
              <a:t> - Stratified sampling was used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 </a:t>
            </a:r>
            <a:r>
              <a:rPr lang="en-US" sz="2600" dirty="0" err="1">
                <a:solidFill>
                  <a:schemeClr val="accent1"/>
                </a:solidFill>
              </a:rPr>
              <a:t>X_train</a:t>
            </a:r>
            <a:r>
              <a:rPr lang="en-US" sz="2600" dirty="0">
                <a:solidFill>
                  <a:schemeClr val="accent1"/>
                </a:solidFill>
              </a:rPr>
              <a:t>, </a:t>
            </a:r>
            <a:r>
              <a:rPr lang="en-US" sz="2600" dirty="0" err="1">
                <a:solidFill>
                  <a:schemeClr val="accent1"/>
                </a:solidFill>
              </a:rPr>
              <a:t>X_test</a:t>
            </a:r>
            <a:r>
              <a:rPr lang="en-US" sz="2600" dirty="0">
                <a:solidFill>
                  <a:schemeClr val="accent1"/>
                </a:solidFill>
              </a:rPr>
              <a:t>, </a:t>
            </a:r>
            <a:r>
              <a:rPr lang="en-US" sz="2600" dirty="0" err="1">
                <a:solidFill>
                  <a:schemeClr val="accent1"/>
                </a:solidFill>
              </a:rPr>
              <a:t>y_train</a:t>
            </a:r>
            <a:r>
              <a:rPr lang="en-US" sz="2600" dirty="0">
                <a:solidFill>
                  <a:schemeClr val="accent1"/>
                </a:solidFill>
              </a:rPr>
              <a:t>, </a:t>
            </a:r>
            <a:r>
              <a:rPr lang="en-US" sz="2600" dirty="0" err="1">
                <a:solidFill>
                  <a:schemeClr val="accent1"/>
                </a:solidFill>
              </a:rPr>
              <a:t>y_test</a:t>
            </a:r>
            <a:r>
              <a:rPr lang="en-US" sz="2600" dirty="0">
                <a:solidFill>
                  <a:schemeClr val="accent1"/>
                </a:solidFill>
              </a:rPr>
              <a:t> = </a:t>
            </a:r>
            <a:r>
              <a:rPr lang="en-US" sz="2600" dirty="0" err="1">
                <a:solidFill>
                  <a:schemeClr val="accent1"/>
                </a:solidFill>
              </a:rPr>
              <a:t>train_test_split</a:t>
            </a:r>
            <a:r>
              <a:rPr lang="en-US" sz="2600" dirty="0">
                <a:solidFill>
                  <a:schemeClr val="accent1"/>
                </a:solidFill>
              </a:rPr>
              <a:t>(  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                  X, y, 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                  </a:t>
            </a:r>
            <a:r>
              <a:rPr lang="en-US" sz="2600" dirty="0" err="1">
                <a:solidFill>
                  <a:schemeClr val="accent1"/>
                </a:solidFill>
              </a:rPr>
              <a:t>test_size</a:t>
            </a:r>
            <a:r>
              <a:rPr lang="en-US" sz="2600" dirty="0">
                <a:solidFill>
                  <a:schemeClr val="accent1"/>
                </a:solidFill>
              </a:rPr>
              <a:t>=0.2,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                  </a:t>
            </a:r>
            <a:r>
              <a:rPr lang="en-US" sz="2600" dirty="0" err="1">
                <a:solidFill>
                  <a:schemeClr val="accent1"/>
                </a:solidFill>
              </a:rPr>
              <a:t>random_state</a:t>
            </a:r>
            <a:r>
              <a:rPr lang="en-US" sz="2600" dirty="0">
                <a:solidFill>
                  <a:schemeClr val="accent1"/>
                </a:solidFill>
              </a:rPr>
              <a:t>=42, 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                  stratify=y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          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124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71E568-EFD8-27D9-E5CB-C9FC8AD1B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499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Dimension Reduction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081686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674CC-D9AC-11C8-5F6F-7E6FB56DF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" y="323561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Feature Selection :</a:t>
            </a:r>
            <a:br>
              <a:rPr lang="ar-EG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67007-E927-94B3-A9EB-E7BA5622E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727"/>
            <a:ext cx="10515600" cy="50208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Selecting the most important features to improve performance.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    selector = </a:t>
            </a:r>
            <a:r>
              <a:rPr lang="en-US" sz="2000" dirty="0" err="1">
                <a:solidFill>
                  <a:schemeClr val="accent1"/>
                </a:solidFill>
              </a:rPr>
              <a:t>SelectKBest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 err="1">
                <a:solidFill>
                  <a:schemeClr val="accent1"/>
                </a:solidFill>
              </a:rPr>
              <a:t>score_func</a:t>
            </a:r>
            <a:r>
              <a:rPr lang="en-US" sz="2000" dirty="0">
                <a:solidFill>
                  <a:schemeClr val="accent1"/>
                </a:solidFill>
              </a:rPr>
              <a:t>=</a:t>
            </a:r>
            <a:r>
              <a:rPr lang="en-US" sz="2000" dirty="0" err="1">
                <a:solidFill>
                  <a:schemeClr val="accent1"/>
                </a:solidFill>
              </a:rPr>
              <a:t>f_classif</a:t>
            </a:r>
            <a:r>
              <a:rPr lang="en-US" sz="2000" dirty="0">
                <a:solidFill>
                  <a:schemeClr val="accent1"/>
                </a:solidFill>
              </a:rPr>
              <a:t>, k=7)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    </a:t>
            </a:r>
            <a:r>
              <a:rPr lang="en-US" sz="2000" dirty="0" err="1">
                <a:solidFill>
                  <a:schemeClr val="accent1"/>
                </a:solidFill>
              </a:rPr>
              <a:t>X_train_selected</a:t>
            </a:r>
            <a:r>
              <a:rPr lang="en-US" sz="2000" dirty="0">
                <a:solidFill>
                  <a:schemeClr val="accent1"/>
                </a:solidFill>
              </a:rPr>
              <a:t> = </a:t>
            </a:r>
            <a:r>
              <a:rPr lang="en-US" sz="2000" dirty="0" err="1">
                <a:solidFill>
                  <a:schemeClr val="accent1"/>
                </a:solidFill>
              </a:rPr>
              <a:t>selector.fit_transform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 err="1">
                <a:solidFill>
                  <a:schemeClr val="accent1"/>
                </a:solidFill>
              </a:rPr>
              <a:t>X_train_scaled</a:t>
            </a:r>
            <a:r>
              <a:rPr lang="en-US" sz="2000" dirty="0">
                <a:solidFill>
                  <a:schemeClr val="accent1"/>
                </a:solidFill>
              </a:rPr>
              <a:t>, </a:t>
            </a:r>
            <a:r>
              <a:rPr lang="en-US" sz="2000" dirty="0" err="1">
                <a:solidFill>
                  <a:schemeClr val="accent1"/>
                </a:solidFill>
              </a:rPr>
              <a:t>y_train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    </a:t>
            </a:r>
            <a:r>
              <a:rPr lang="en-US" sz="2000" dirty="0" err="1">
                <a:solidFill>
                  <a:schemeClr val="accent1"/>
                </a:solidFill>
              </a:rPr>
              <a:t>X_test_selected</a:t>
            </a:r>
            <a:r>
              <a:rPr lang="en-US" sz="2000" dirty="0">
                <a:solidFill>
                  <a:schemeClr val="accent1"/>
                </a:solidFill>
              </a:rPr>
              <a:t> = </a:t>
            </a:r>
            <a:r>
              <a:rPr lang="en-US" sz="2000" dirty="0" err="1">
                <a:solidFill>
                  <a:schemeClr val="accent1"/>
                </a:solidFill>
              </a:rPr>
              <a:t>selector.transform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 err="1">
                <a:solidFill>
                  <a:schemeClr val="accent1"/>
                </a:solidFill>
              </a:rPr>
              <a:t>X_test_scaled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    </a:t>
            </a:r>
            <a:r>
              <a:rPr lang="en-US" sz="2000" dirty="0" err="1">
                <a:solidFill>
                  <a:schemeClr val="accent1"/>
                </a:solidFill>
              </a:rPr>
              <a:t>scores_df</a:t>
            </a:r>
            <a:r>
              <a:rPr lang="en-US" sz="2000" dirty="0">
                <a:solidFill>
                  <a:schemeClr val="accent1"/>
                </a:solidFill>
              </a:rPr>
              <a:t> = </a:t>
            </a:r>
            <a:r>
              <a:rPr lang="en-US" sz="2000" dirty="0" err="1">
                <a:solidFill>
                  <a:schemeClr val="accent1"/>
                </a:solidFill>
              </a:rPr>
              <a:t>pd.DataFrame</a:t>
            </a:r>
            <a:r>
              <a:rPr lang="en-US" sz="2000" dirty="0">
                <a:solidFill>
                  <a:schemeClr val="accent1"/>
                </a:solidFill>
              </a:rPr>
              <a:t>({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                 'Feature': </a:t>
            </a:r>
            <a:r>
              <a:rPr lang="en-US" sz="2000" dirty="0" err="1">
                <a:solidFill>
                  <a:schemeClr val="accent1"/>
                </a:solidFill>
              </a:rPr>
              <a:t>X.columns</a:t>
            </a:r>
            <a:r>
              <a:rPr lang="en-US" sz="2000" dirty="0">
                <a:solidFill>
                  <a:schemeClr val="accent1"/>
                </a:solidFill>
              </a:rPr>
              <a:t>,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                 'Score'  : </a:t>
            </a:r>
            <a:r>
              <a:rPr lang="en-US" sz="2000" dirty="0" err="1">
                <a:solidFill>
                  <a:schemeClr val="accent1"/>
                </a:solidFill>
              </a:rPr>
              <a:t>selector.scores</a:t>
            </a:r>
            <a:r>
              <a:rPr lang="en-US" sz="2000" dirty="0">
                <a:solidFill>
                  <a:schemeClr val="accent1"/>
                </a:solidFill>
              </a:rPr>
              <a:t>_,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                 'Selected': </a:t>
            </a:r>
            <a:r>
              <a:rPr lang="en-US" sz="2000" dirty="0" err="1">
                <a:solidFill>
                  <a:schemeClr val="accent1"/>
                </a:solidFill>
              </a:rPr>
              <a:t>selector.get_support</a:t>
            </a:r>
            <a:r>
              <a:rPr lang="en-US" sz="2000" dirty="0">
                <a:solidFill>
                  <a:schemeClr val="accent1"/>
                </a:solidFill>
              </a:rPr>
              <a:t>()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     }).</a:t>
            </a:r>
            <a:r>
              <a:rPr lang="en-US" sz="2000" dirty="0" err="1">
                <a:solidFill>
                  <a:schemeClr val="accent1"/>
                </a:solidFill>
              </a:rPr>
              <a:t>sort_values</a:t>
            </a:r>
            <a:r>
              <a:rPr lang="en-US" sz="2000" dirty="0">
                <a:solidFill>
                  <a:schemeClr val="accent1"/>
                </a:solidFill>
              </a:rPr>
              <a:t>('Score', ascending=False)</a:t>
            </a:r>
          </a:p>
        </p:txBody>
      </p:sp>
    </p:spTree>
    <p:extLst>
      <p:ext uri="{BB962C8B-B14F-4D97-AF65-F5344CB8AC3E}">
        <p14:creationId xmlns:p14="http://schemas.microsoft.com/office/powerpoint/2010/main" val="1661558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3939-BD12-4541-138F-160C58A09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69" y="298623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Feature Extraction(PCA) :</a:t>
            </a:r>
            <a:br>
              <a:rPr lang="ar-EG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8F61A-D525-85CB-CA10-0EFB507E5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149" y="1825625"/>
            <a:ext cx="11155679" cy="473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PCA was applied to reduce dimensionality while preserving 95%</a:t>
            </a:r>
            <a:br>
              <a:rPr lang="en-US" dirty="0"/>
            </a:br>
            <a:r>
              <a:rPr lang="en-US" dirty="0"/>
              <a:t>of the data variance. </a:t>
            </a:r>
            <a:br>
              <a:rPr lang="en-US" dirty="0"/>
            </a:b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   </a:t>
            </a:r>
            <a:r>
              <a:rPr lang="en-US" sz="2400" dirty="0" err="1">
                <a:solidFill>
                  <a:schemeClr val="accent1"/>
                </a:solidFill>
              </a:rPr>
              <a:t>pca</a:t>
            </a:r>
            <a:r>
              <a:rPr lang="en-US" sz="2400" dirty="0">
                <a:solidFill>
                  <a:schemeClr val="accent1"/>
                </a:solidFill>
              </a:rPr>
              <a:t> = PCA(</a:t>
            </a:r>
            <a:r>
              <a:rPr lang="en-US" sz="2400" dirty="0" err="1">
                <a:solidFill>
                  <a:schemeClr val="accent1"/>
                </a:solidFill>
              </a:rPr>
              <a:t>n_components</a:t>
            </a:r>
            <a:r>
              <a:rPr lang="en-US" sz="2400" dirty="0">
                <a:solidFill>
                  <a:schemeClr val="accent1"/>
                </a:solidFill>
              </a:rPr>
              <a:t>=0.95, </a:t>
            </a:r>
            <a:r>
              <a:rPr lang="en-US" sz="2400" dirty="0" err="1">
                <a:solidFill>
                  <a:schemeClr val="accent1"/>
                </a:solidFill>
              </a:rPr>
              <a:t>random_state</a:t>
            </a:r>
            <a:r>
              <a:rPr lang="en-US" sz="2400" dirty="0">
                <a:solidFill>
                  <a:schemeClr val="accent1"/>
                </a:solidFill>
              </a:rPr>
              <a:t>=42)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   </a:t>
            </a:r>
            <a:r>
              <a:rPr lang="en-US" sz="2400" dirty="0" err="1">
                <a:solidFill>
                  <a:schemeClr val="accent1"/>
                </a:solidFill>
              </a:rPr>
              <a:t>X_train_pca</a:t>
            </a:r>
            <a:r>
              <a:rPr lang="en-US" sz="2400" dirty="0">
                <a:solidFill>
                  <a:schemeClr val="accent1"/>
                </a:solidFill>
              </a:rPr>
              <a:t> = </a:t>
            </a:r>
            <a:r>
              <a:rPr lang="en-US" sz="2400" dirty="0" err="1">
                <a:solidFill>
                  <a:schemeClr val="accent1"/>
                </a:solidFill>
              </a:rPr>
              <a:t>pca.fit_transform</a:t>
            </a:r>
            <a:r>
              <a:rPr lang="en-US" sz="2400" dirty="0">
                <a:solidFill>
                  <a:schemeClr val="accent1"/>
                </a:solidFill>
              </a:rPr>
              <a:t>(</a:t>
            </a:r>
            <a:r>
              <a:rPr lang="en-US" sz="2400" dirty="0" err="1">
                <a:solidFill>
                  <a:schemeClr val="accent1"/>
                </a:solidFill>
              </a:rPr>
              <a:t>X_train_scaled</a:t>
            </a:r>
            <a:r>
              <a:rPr lang="en-US" sz="2400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   </a:t>
            </a:r>
            <a:r>
              <a:rPr lang="en-US" sz="2400" dirty="0" err="1">
                <a:solidFill>
                  <a:schemeClr val="accent1"/>
                </a:solidFill>
              </a:rPr>
              <a:t>X_test_pca</a:t>
            </a:r>
            <a:r>
              <a:rPr lang="en-US" sz="2400" dirty="0">
                <a:solidFill>
                  <a:schemeClr val="accent1"/>
                </a:solidFill>
              </a:rPr>
              <a:t>  = </a:t>
            </a:r>
            <a:r>
              <a:rPr lang="en-US" sz="2400" dirty="0" err="1">
                <a:solidFill>
                  <a:schemeClr val="accent1"/>
                </a:solidFill>
              </a:rPr>
              <a:t>pca.transform</a:t>
            </a:r>
            <a:r>
              <a:rPr lang="en-US" sz="2400" dirty="0">
                <a:solidFill>
                  <a:schemeClr val="accent1"/>
                </a:solidFill>
              </a:rPr>
              <a:t>(</a:t>
            </a:r>
            <a:r>
              <a:rPr lang="en-US" sz="2400" dirty="0" err="1">
                <a:solidFill>
                  <a:schemeClr val="accent1"/>
                </a:solidFill>
              </a:rPr>
              <a:t>X_test_scaled</a:t>
            </a:r>
            <a:r>
              <a:rPr lang="en-US" sz="2400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   print(</a:t>
            </a:r>
            <a:r>
              <a:rPr lang="en-US" sz="2400" dirty="0" err="1">
                <a:solidFill>
                  <a:schemeClr val="accent1"/>
                </a:solidFill>
              </a:rPr>
              <a:t>f'Number</a:t>
            </a:r>
            <a:r>
              <a:rPr lang="en-US" sz="2400" dirty="0">
                <a:solidFill>
                  <a:schemeClr val="accent1"/>
                </a:solidFill>
              </a:rPr>
              <a:t> of original features        : {</a:t>
            </a:r>
            <a:r>
              <a:rPr lang="en-US" sz="2400" dirty="0" err="1">
                <a:solidFill>
                  <a:schemeClr val="accent1"/>
                </a:solidFill>
              </a:rPr>
              <a:t>X_train_scaled.shape</a:t>
            </a:r>
            <a:r>
              <a:rPr lang="en-US" sz="2400" dirty="0">
                <a:solidFill>
                  <a:schemeClr val="accent1"/>
                </a:solidFill>
              </a:rPr>
              <a:t>[1]}’)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   print(</a:t>
            </a:r>
            <a:r>
              <a:rPr lang="en-US" sz="2400" dirty="0" err="1">
                <a:solidFill>
                  <a:schemeClr val="accent1"/>
                </a:solidFill>
              </a:rPr>
              <a:t>f'Number</a:t>
            </a:r>
            <a:r>
              <a:rPr lang="en-US" sz="2400" dirty="0">
                <a:solidFill>
                  <a:schemeClr val="accent1"/>
                </a:solidFill>
              </a:rPr>
              <a:t> of components after PCA     : {</a:t>
            </a:r>
            <a:r>
              <a:rPr lang="en-US" sz="2400" dirty="0" err="1">
                <a:solidFill>
                  <a:schemeClr val="accent1"/>
                </a:solidFill>
              </a:rPr>
              <a:t>X_train_pca.shape</a:t>
            </a:r>
            <a:r>
              <a:rPr lang="en-US" sz="2400" dirty="0">
                <a:solidFill>
                  <a:schemeClr val="accent1"/>
                </a:solidFill>
              </a:rPr>
              <a:t>[1]}’)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   print(</a:t>
            </a:r>
            <a:r>
              <a:rPr lang="en-US" sz="2400" dirty="0" err="1">
                <a:solidFill>
                  <a:schemeClr val="accent1"/>
                </a:solidFill>
              </a:rPr>
              <a:t>f'Explained</a:t>
            </a:r>
            <a:r>
              <a:rPr lang="en-US" sz="2400" dirty="0">
                <a:solidFill>
                  <a:schemeClr val="accent1"/>
                </a:solidFill>
              </a:rPr>
              <a:t> information retained      :             {</a:t>
            </a:r>
            <a:r>
              <a:rPr lang="en-US" sz="2400" dirty="0" err="1">
                <a:solidFill>
                  <a:schemeClr val="accent1"/>
                </a:solidFill>
              </a:rPr>
              <a:t>pca.explained_variance_ratio_.sum</a:t>
            </a:r>
            <a:r>
              <a:rPr lang="en-US" sz="2400" dirty="0">
                <a:solidFill>
                  <a:schemeClr val="accent1"/>
                </a:solidFill>
              </a:rPr>
              <a:t>()*100:.1f}%’) </a:t>
            </a:r>
          </a:p>
        </p:txBody>
      </p:sp>
    </p:spTree>
    <p:extLst>
      <p:ext uri="{BB962C8B-B14F-4D97-AF65-F5344CB8AC3E}">
        <p14:creationId xmlns:p14="http://schemas.microsoft.com/office/powerpoint/2010/main" val="1380370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74F35-6493-B282-25F4-B579956DD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31" y="70975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ar-EG" b="1" dirty="0"/>
            </a:br>
            <a:r>
              <a:rPr lang="en-US" b="1" dirty="0"/>
              <a:t>Modeling</a:t>
            </a:r>
            <a:r>
              <a:rPr lang="en-US" dirty="0"/>
              <a:t> </a:t>
            </a:r>
            <a:r>
              <a:rPr lang="ar-EG" dirty="0"/>
              <a:t>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4EFE4-9E02-07F4-B4BB-9A648E883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04" y="1554480"/>
            <a:ext cx="11463251" cy="510464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We used three machine learning models:</a:t>
            </a:r>
            <a:br>
              <a:rPr lang="en-US" dirty="0"/>
            </a:br>
            <a:r>
              <a:rPr lang="ar-EG" dirty="0"/>
              <a:t>    </a:t>
            </a:r>
            <a:r>
              <a:rPr lang="en-US" dirty="0"/>
              <a:t>Decision Tree</a:t>
            </a:r>
            <a:br>
              <a:rPr lang="en-US" dirty="0"/>
            </a:br>
            <a:r>
              <a:rPr lang="ar-EG" dirty="0"/>
              <a:t>    </a:t>
            </a:r>
            <a:r>
              <a:rPr lang="en-US" dirty="0"/>
              <a:t>Random Forest</a:t>
            </a:r>
            <a:br>
              <a:rPr lang="en-US" dirty="0"/>
            </a:br>
            <a:r>
              <a:rPr lang="ar-EG" dirty="0"/>
              <a:t>    </a:t>
            </a:r>
            <a:r>
              <a:rPr lang="en-US" dirty="0"/>
              <a:t>K-Nearest Neighbors (KNN) </a:t>
            </a:r>
            <a:endParaRPr lang="ar-EG" dirty="0"/>
          </a:p>
          <a:p>
            <a:pPr marL="0" indent="0">
              <a:buNone/>
            </a:pPr>
            <a:br>
              <a:rPr lang="en-US" dirty="0"/>
            </a:br>
            <a:r>
              <a:rPr lang="ar-EG" dirty="0"/>
              <a:t> </a:t>
            </a:r>
            <a:r>
              <a:rPr lang="en-US" dirty="0">
                <a:solidFill>
                  <a:schemeClr val="accent1"/>
                </a:solidFill>
              </a:rPr>
              <a:t>def </a:t>
            </a:r>
            <a:r>
              <a:rPr lang="en-US" dirty="0" err="1">
                <a:solidFill>
                  <a:schemeClr val="accent1"/>
                </a:solidFill>
              </a:rPr>
              <a:t>train_and_evaluate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model_name</a:t>
            </a:r>
            <a:r>
              <a:rPr lang="en-US" dirty="0">
                <a:solidFill>
                  <a:schemeClr val="accent1"/>
                </a:solidFill>
              </a:rPr>
              <a:t>, model, </a:t>
            </a:r>
            <a:r>
              <a:rPr lang="en-US" dirty="0" err="1">
                <a:solidFill>
                  <a:schemeClr val="accent1"/>
                </a:solidFill>
              </a:rPr>
              <a:t>X_tr</a:t>
            </a:r>
            <a:r>
              <a:rPr lang="en-US" dirty="0">
                <a:solidFill>
                  <a:schemeClr val="accent1"/>
                </a:solidFill>
              </a:rPr>
              <a:t>, </a:t>
            </a:r>
            <a:r>
              <a:rPr lang="en-US" dirty="0" err="1">
                <a:solidFill>
                  <a:schemeClr val="accent1"/>
                </a:solidFill>
              </a:rPr>
              <a:t>X_te</a:t>
            </a:r>
            <a:r>
              <a:rPr lang="en-US" dirty="0">
                <a:solidFill>
                  <a:schemeClr val="accent1"/>
                </a:solidFill>
              </a:rPr>
              <a:t>, </a:t>
            </a:r>
            <a:r>
              <a:rPr lang="en-US" dirty="0" err="1">
                <a:solidFill>
                  <a:schemeClr val="accent1"/>
                </a:solidFill>
              </a:rPr>
              <a:t>y_tr</a:t>
            </a:r>
            <a:r>
              <a:rPr lang="en-US" dirty="0">
                <a:solidFill>
                  <a:schemeClr val="accent1"/>
                </a:solidFill>
              </a:rPr>
              <a:t>, </a:t>
            </a:r>
            <a:r>
              <a:rPr lang="en-US" dirty="0" err="1">
                <a:solidFill>
                  <a:schemeClr val="accent1"/>
                </a:solidFill>
              </a:rPr>
              <a:t>y_te</a:t>
            </a:r>
            <a:r>
              <a:rPr lang="en-US" dirty="0">
                <a:solidFill>
                  <a:schemeClr val="accent1"/>
                </a:solidFill>
              </a:rPr>
              <a:t>): </a:t>
            </a:r>
            <a:endParaRPr lang="ar-EG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ar-EG" dirty="0">
                <a:solidFill>
                  <a:schemeClr val="accent1"/>
                </a:solidFill>
              </a:rPr>
              <a:t>       </a:t>
            </a:r>
            <a:r>
              <a:rPr lang="en-US" dirty="0" err="1">
                <a:solidFill>
                  <a:schemeClr val="accent1"/>
                </a:solidFill>
              </a:rPr>
              <a:t>model.fit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X_tr</a:t>
            </a:r>
            <a:r>
              <a:rPr lang="en-US" dirty="0">
                <a:solidFill>
                  <a:schemeClr val="accent1"/>
                </a:solidFill>
              </a:rPr>
              <a:t>, </a:t>
            </a:r>
            <a:r>
              <a:rPr lang="en-US" dirty="0" err="1">
                <a:solidFill>
                  <a:schemeClr val="accent1"/>
                </a:solidFill>
              </a:rPr>
              <a:t>y_tr</a:t>
            </a:r>
            <a:r>
              <a:rPr lang="en-US" dirty="0">
                <a:solidFill>
                  <a:schemeClr val="accent1"/>
                </a:solidFill>
              </a:rPr>
              <a:t>) </a:t>
            </a:r>
            <a:r>
              <a:rPr lang="ar-EG" dirty="0">
                <a:solidFill>
                  <a:schemeClr val="accent1"/>
                </a:solidFill>
              </a:rPr>
              <a:t> </a:t>
            </a:r>
          </a:p>
          <a:p>
            <a:pPr marL="0" indent="0">
              <a:buNone/>
            </a:pPr>
            <a:r>
              <a:rPr lang="ar-EG" dirty="0">
                <a:solidFill>
                  <a:schemeClr val="accent1"/>
                </a:solidFill>
              </a:rPr>
              <a:t>       </a:t>
            </a:r>
            <a:r>
              <a:rPr lang="en-US" dirty="0" err="1">
                <a:solidFill>
                  <a:schemeClr val="accent1"/>
                </a:solidFill>
              </a:rPr>
              <a:t>y_pred</a:t>
            </a:r>
            <a:r>
              <a:rPr lang="en-US" dirty="0">
                <a:solidFill>
                  <a:schemeClr val="accent1"/>
                </a:solidFill>
              </a:rPr>
              <a:t> = </a:t>
            </a:r>
            <a:r>
              <a:rPr lang="en-US" dirty="0" err="1">
                <a:solidFill>
                  <a:schemeClr val="accent1"/>
                </a:solidFill>
              </a:rPr>
              <a:t>model.predict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X_te</a:t>
            </a:r>
            <a:r>
              <a:rPr lang="en-US" dirty="0">
                <a:solidFill>
                  <a:schemeClr val="accent1"/>
                </a:solidFill>
              </a:rPr>
              <a:t>)</a:t>
            </a:r>
            <a:endParaRPr lang="ar-EG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ar-EG" dirty="0">
                <a:solidFill>
                  <a:schemeClr val="accent1"/>
                </a:solidFill>
              </a:rPr>
              <a:t>    </a:t>
            </a:r>
            <a:r>
              <a:rPr lang="en-US" dirty="0">
                <a:solidFill>
                  <a:schemeClr val="accent1"/>
                </a:solidFill>
              </a:rPr>
              <a:t>acc = </a:t>
            </a:r>
            <a:r>
              <a:rPr lang="en-US" dirty="0" err="1">
                <a:solidFill>
                  <a:schemeClr val="accent1"/>
                </a:solidFill>
              </a:rPr>
              <a:t>accuracy_score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y_te</a:t>
            </a:r>
            <a:r>
              <a:rPr lang="en-US" dirty="0">
                <a:solidFill>
                  <a:schemeClr val="accent1"/>
                </a:solidFill>
              </a:rPr>
              <a:t>, </a:t>
            </a:r>
            <a:r>
              <a:rPr lang="en-US" dirty="0" err="1">
                <a:solidFill>
                  <a:schemeClr val="accent1"/>
                </a:solidFill>
              </a:rPr>
              <a:t>y_pred</a:t>
            </a:r>
            <a:r>
              <a:rPr lang="en-US" dirty="0">
                <a:solidFill>
                  <a:schemeClr val="accent1"/>
                </a:solidFill>
              </a:rPr>
              <a:t>) </a:t>
            </a:r>
            <a:endParaRPr lang="ar-EG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</a:t>
            </a:r>
            <a:r>
              <a:rPr lang="ar-EG" dirty="0">
                <a:solidFill>
                  <a:schemeClr val="accent1"/>
                </a:solidFill>
              </a:rPr>
              <a:t>     </a:t>
            </a:r>
            <a:r>
              <a:rPr lang="en-US" dirty="0">
                <a:solidFill>
                  <a:schemeClr val="accent1"/>
                </a:solidFill>
              </a:rPr>
              <a:t>return acc</a:t>
            </a:r>
            <a:endParaRPr lang="ar-EG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ar-EG" dirty="0">
                <a:solidFill>
                  <a:schemeClr val="accent1"/>
                </a:solidFill>
              </a:rPr>
              <a:t>  </a:t>
            </a:r>
            <a:r>
              <a:rPr lang="en-US" dirty="0">
                <a:solidFill>
                  <a:schemeClr val="accent1"/>
                </a:solidFill>
              </a:rPr>
              <a:t>models = {</a:t>
            </a:r>
            <a:endParaRPr lang="ar-EG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"Decision Tree": </a:t>
            </a:r>
            <a:r>
              <a:rPr lang="en-US" dirty="0" err="1">
                <a:solidFill>
                  <a:schemeClr val="accent1"/>
                </a:solidFill>
              </a:rPr>
              <a:t>DecisionTreeClassifier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random_state</a:t>
            </a:r>
            <a:r>
              <a:rPr lang="en-US" dirty="0">
                <a:solidFill>
                  <a:schemeClr val="accent1"/>
                </a:solidFill>
              </a:rPr>
              <a:t>=42),   </a:t>
            </a:r>
            <a:endParaRPr lang="ar-EG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ar-EG" dirty="0">
                <a:solidFill>
                  <a:schemeClr val="accent1"/>
                </a:solidFill>
              </a:rPr>
              <a:t>  </a:t>
            </a:r>
            <a:r>
              <a:rPr lang="en-US" dirty="0">
                <a:solidFill>
                  <a:schemeClr val="accent1"/>
                </a:solidFill>
              </a:rPr>
              <a:t> "Random Forest": </a:t>
            </a:r>
            <a:r>
              <a:rPr lang="en-US" dirty="0" err="1">
                <a:solidFill>
                  <a:schemeClr val="accent1"/>
                </a:solidFill>
              </a:rPr>
              <a:t>RandomForestClassifier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random_state</a:t>
            </a:r>
            <a:r>
              <a:rPr lang="en-US" dirty="0">
                <a:solidFill>
                  <a:schemeClr val="accent1"/>
                </a:solidFill>
              </a:rPr>
              <a:t>=42),   </a:t>
            </a:r>
            <a:endParaRPr lang="ar-EG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ar-EG" dirty="0">
                <a:solidFill>
                  <a:schemeClr val="accent1"/>
                </a:solidFill>
              </a:rPr>
              <a:t>  </a:t>
            </a:r>
            <a:r>
              <a:rPr lang="en-US" dirty="0">
                <a:solidFill>
                  <a:schemeClr val="accent1"/>
                </a:solidFill>
              </a:rPr>
              <a:t> "KNN": </a:t>
            </a:r>
            <a:r>
              <a:rPr lang="en-US" dirty="0" err="1">
                <a:solidFill>
                  <a:schemeClr val="accent1"/>
                </a:solidFill>
              </a:rPr>
              <a:t>KNeighborsClassifier</a:t>
            </a:r>
            <a:r>
              <a:rPr lang="en-US" dirty="0">
                <a:solidFill>
                  <a:schemeClr val="accent1"/>
                </a:solidFill>
              </a:rPr>
              <a:t>()</a:t>
            </a:r>
            <a:endParaRPr lang="ar-EG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ar-EG" dirty="0">
                <a:solidFill>
                  <a:schemeClr val="accent1"/>
                </a:solidFill>
              </a:rPr>
              <a:t>  </a:t>
            </a:r>
            <a:r>
              <a:rPr lang="en-US" dirty="0">
                <a:solidFill>
                  <a:schemeClr val="accent1"/>
                </a:solidFill>
              </a:rPr>
              <a:t>}</a:t>
            </a:r>
            <a:r>
              <a:rPr lang="ar-EG" dirty="0">
                <a:solidFill>
                  <a:schemeClr val="accent1"/>
                </a:solidFill>
              </a:rPr>
              <a:t>    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320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74F35-6493-B282-25F4-B579956DD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65" y="139798"/>
            <a:ext cx="11463251" cy="804098"/>
          </a:xfrm>
        </p:spPr>
        <p:txBody>
          <a:bodyPr>
            <a:normAutofit/>
          </a:bodyPr>
          <a:lstStyle/>
          <a:p>
            <a:r>
              <a:rPr lang="en-US" sz="4000" b="1" dirty="0"/>
              <a:t>Model Comparison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4FAB62-394B-4988-862C-359EBD4608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3949" y="934066"/>
            <a:ext cx="6920109" cy="545936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83406D-7691-42F0-9B87-1FA10BF7BF3C}"/>
              </a:ext>
            </a:extLst>
          </p:cNvPr>
          <p:cNvSpPr txBox="1"/>
          <p:nvPr/>
        </p:nvSpPr>
        <p:spPr>
          <a:xfrm>
            <a:off x="425065" y="1540087"/>
            <a:ext cx="44910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r>
              <a:rPr lang="en-US" sz="2800" dirty="0"/>
              <a:t>- Feature Selection improved   performance slightly.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- PCA reduced dimensionality with minimal accuracy loss.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- Random Forest achieved the best results.</a:t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01446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8BC33-E8FF-42D1-B00E-B3D60E6C8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84" y="491614"/>
            <a:ext cx="10675374" cy="5830528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80864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B8E2FC293CD14FA131B234109A249E" ma:contentTypeVersion="6" ma:contentTypeDescription="Create a new document." ma:contentTypeScope="" ma:versionID="0bd2522af4143b722e7fc3f6d3b5abb9">
  <xsd:schema xmlns:xsd="http://www.w3.org/2001/XMLSchema" xmlns:xs="http://www.w3.org/2001/XMLSchema" xmlns:p="http://schemas.microsoft.com/office/2006/metadata/properties" xmlns:ns3="43272b5d-cfd7-4c48-9540-5f24d0bf712c" targetNamespace="http://schemas.microsoft.com/office/2006/metadata/properties" ma:root="true" ma:fieldsID="c1e2946c48407f946679c18216a219ae" ns3:_="">
    <xsd:import namespace="43272b5d-cfd7-4c48-9540-5f24d0bf712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272b5d-cfd7-4c48-9540-5f24d0bf71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3272b5d-cfd7-4c48-9540-5f24d0bf712c" xsi:nil="true"/>
  </documentManagement>
</p:properties>
</file>

<file path=customXml/itemProps1.xml><?xml version="1.0" encoding="utf-8"?>
<ds:datastoreItem xmlns:ds="http://schemas.openxmlformats.org/officeDocument/2006/customXml" ds:itemID="{829AECC2-ACEA-431F-9DD2-92FA54FA4E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272b5d-cfd7-4c48-9540-5f24d0bf71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F8669D-3299-44FF-87AA-446C391109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4D6036-B925-48F2-9256-7DD94115934D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43272b5d-cfd7-4c48-9540-5f24d0bf712c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1125</Words>
  <Application>Microsoft Office PowerPoint</Application>
  <PresentationFormat>Widescreen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Cardiovascular Health Disease Project</vt:lpstr>
      <vt:lpstr>Idea Description:</vt:lpstr>
      <vt:lpstr>Dataset Description:</vt:lpstr>
      <vt:lpstr>Data Preprocessing:</vt:lpstr>
      <vt:lpstr>PowerPoint Presentation</vt:lpstr>
      <vt:lpstr>PowerPoint Presentation</vt:lpstr>
      <vt:lpstr> Feature Scaling : </vt:lpstr>
      <vt:lpstr> Data Splitting  </vt:lpstr>
      <vt:lpstr>Dimension Reduction</vt:lpstr>
      <vt:lpstr> Feature Selection : </vt:lpstr>
      <vt:lpstr> Feature Extraction(PCA) : </vt:lpstr>
      <vt:lpstr> Modeling : </vt:lpstr>
      <vt:lpstr>Model Comparison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Cardiovascular Health Disease Project</dc:title>
  <dc:creator>Marina ayman Asaad</dc:creator>
  <cp:lastModifiedBy>Basant Gamal</cp:lastModifiedBy>
  <cp:revision>9</cp:revision>
  <dcterms:created xsi:type="dcterms:W3CDTF">2026-04-30T20:00:51Z</dcterms:created>
  <dcterms:modified xsi:type="dcterms:W3CDTF">2026-04-30T22:50:09Z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0x010100B6B8E2FC293CD14FA131B234109A249E</vt:lpwstr>
  </property>
</Properties>
</file>